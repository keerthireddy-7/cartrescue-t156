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2.png"/><Relationship Id="rId8" Type="http://schemas.openxmlformats.org/officeDocument/2006/relationships/image" Target="../media/image-3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960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2015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RESCUE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280160" y="3063240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That Predicts, Diagnoses &amp; Recovers Abandoned Carts in Real Time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49528" y="4160520"/>
            <a:ext cx="3017520" cy="868680"/>
          </a:xfrm>
          <a:prstGeom prst="roundRect">
            <a:avLst>
              <a:gd name="adj" fmla="val 14737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4120" y="43296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449" y="4449013"/>
            <a:ext cx="291694" cy="291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4200" y="4160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87088" y="4160520"/>
            <a:ext cx="3017520" cy="868680"/>
          </a:xfrm>
          <a:prstGeom prst="roundRect">
            <a:avLst>
              <a:gd name="adj" fmla="val 14737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1680" y="43296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009" y="4449013"/>
            <a:ext cx="291694" cy="291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1760" y="4160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Architecture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924648" y="4160520"/>
            <a:ext cx="3017520" cy="868680"/>
          </a:xfrm>
          <a:prstGeom prst="roundRect">
            <a:avLst>
              <a:gd name="adj" fmla="val 14737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89240" y="432968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569" y="4449013"/>
            <a:ext cx="291694" cy="2916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29320" y="41605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Margin-Safe Recovery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7C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 SUBMISSION  •  AI-POWERED CART ABANDONMENT RECOVERY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Day, Revenue Walks Out the Checkout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160520"/>
          </a:xfrm>
          <a:prstGeom prst="roundRect">
            <a:avLst>
              <a:gd name="adj" fmla="val 3590"/>
            </a:avLst>
          </a:prstGeom>
          <a:solidFill>
            <a:srgbClr val="1826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online cart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rate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e-commerce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160520"/>
            <a:ext cx="2651760" cy="0"/>
          </a:xfrm>
          <a:prstGeom prst="line">
            <a:avLst/>
          </a:prstGeom>
          <a:noFill/>
          <a:ln w="12700">
            <a:solidFill>
              <a:srgbClr val="3547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89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stores react only after the customer is already gone — with generic, one-size-fits-all discounts that hurt margins.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/home/claude/icons/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119" y="1819199"/>
            <a:ext cx="311810" cy="31181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30368" y="166420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30368" y="20116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card declines and checkout errors interrupt purchase intent.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27249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119" y="2852471"/>
            <a:ext cx="311810" cy="3118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0368" y="26974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Delivery Friction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230368" y="304495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delivery fees and slow delivery windows drive drop-off.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80560" y="3758184"/>
            <a:ext cx="566928" cy="566928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8" name="Image 2" descr="/home/claude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119" y="3885743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30368" y="373075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 &amp; Distraction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230368" y="407822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Browsing-only sessions and price comparison stall checkout.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480560" y="4791456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2" name="Image 3" descr="/home/claude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119" y="4919015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476402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Response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5230368" y="511149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discount emails erode margin without fixing the real cause.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Rescue AI: Predict, Diagnose, Recover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 is a multi-agent, AI-powered recovery platform that watches checkout behavior as it happens — payment attempts, browsing patterns, shipping costs, and delivery timelines — to predict abandonment before it occurs, diagnose the root cause, and trigger the most cost-effective recovery 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80" y="366080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5478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abandonment risk scoring, not after-the-fact analysis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16966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" y="4264304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1513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diagnosis: pricing, delivery, cart value, or customer intent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77316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" y="486780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754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action selection — retry, free shipping, discount, or no action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537667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" y="5471312"/>
            <a:ext cx="231343" cy="231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53583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guardrails keep every recovery action profit-safe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172200" y="1508760"/>
            <a:ext cx="548640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8CA0C0">
                <a:alpha val="25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92240" y="22860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/home/claud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2401214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2240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7178040" y="2542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behavior &amp; transaction signals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748272" y="2834640"/>
            <a:ext cx="0" cy="329184"/>
          </a:xfrm>
          <a:prstGeom prst="line">
            <a:avLst/>
          </a:prstGeom>
          <a:noFill/>
          <a:ln w="19050">
            <a:solidFill>
              <a:srgbClr val="C7D3E6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6492240" y="318211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/home/claude/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454" y="3297326"/>
            <a:ext cx="281635" cy="2816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31363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Agent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178040" y="34381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abandonment risk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748272" y="3730752"/>
            <a:ext cx="0" cy="329184"/>
          </a:xfrm>
          <a:prstGeom prst="line">
            <a:avLst/>
          </a:prstGeom>
          <a:noFill/>
          <a:ln w="19050">
            <a:solidFill>
              <a:srgbClr val="C7D3E6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6492240" y="4078224"/>
            <a:ext cx="512064" cy="512064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30" name="Image 6" descr="/home/claude/icons/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454" y="4193438"/>
            <a:ext cx="281635" cy="28163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78040" y="40325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Agent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178040" y="43342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likely reason for drop-off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748272" y="4626864"/>
            <a:ext cx="0" cy="329184"/>
          </a:xfrm>
          <a:prstGeom prst="line">
            <a:avLst/>
          </a:prstGeom>
          <a:noFill/>
          <a:ln w="19050">
            <a:solidFill>
              <a:srgbClr val="C7D3E6"/>
            </a:solidFill>
            <a:prstDash val="dash"/>
          </a:ln>
        </p:spPr>
      </p:sp>
      <p:sp>
        <p:nvSpPr>
          <p:cNvPr id="34" name="Shape 25"/>
          <p:cNvSpPr/>
          <p:nvPr/>
        </p:nvSpPr>
        <p:spPr>
          <a:xfrm>
            <a:off x="6492240" y="4974336"/>
            <a:ext cx="512064" cy="512064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35" name="Image 7" descr="/home/claude/icons/bu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454" y="5089550"/>
            <a:ext cx="281635" cy="28163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178040" y="4928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7178040" y="5230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best-fit recovery action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Live Signal to Recovered Cart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687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7922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Collect &amp; Engineer Signals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17922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browsing, payment &amp; delivery data cleaned into model-ready features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187952" y="141732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52544" y="16687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17922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10912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Predict Risk Score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10912" y="17922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outputs a live abandonment probability for the active cart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872984" y="141732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37576" y="1668780"/>
            <a:ext cx="548640" cy="548640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6" name="Image 2" descr="/home/claude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17922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95944" y="1481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Route by Risk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695944" y="179222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branches the cart down a low- or high-risk path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095848" y="2468880"/>
            <a:ext cx="0" cy="365760"/>
          </a:xfrm>
          <a:prstGeom prst="line">
            <a:avLst/>
          </a:prstGeom>
          <a:noFill/>
          <a:ln w="22225">
            <a:solidFill>
              <a:srgbClr val="C7D3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2880360"/>
            <a:ext cx="5394960" cy="3063240"/>
          </a:xfrm>
          <a:prstGeom prst="roundRect">
            <a:avLst>
              <a:gd name="adj" fmla="val 4179"/>
            </a:avLst>
          </a:prstGeom>
          <a:solidFill>
            <a:srgbClr val="E9F8F1"/>
          </a:solidFill>
          <a:ln w="15875">
            <a:solidFill>
              <a:srgbClr val="02A9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3136392"/>
            <a:ext cx="502920" cy="502920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22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3249549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417320" y="3429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5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likely to complete checkout on their own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22960" y="397764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07822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39593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Monitoring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371600" y="4233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track progress to confirm completion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22960" y="46908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/home/claude/icons/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79145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467258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1371600" y="49469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reserve — ready if intent drops</a:t>
            </a:r>
            <a:endParaRPr lang="en-US" sz="980" dirty="0"/>
          </a:p>
        </p:txBody>
      </p:sp>
      <p:sp>
        <p:nvSpPr>
          <p:cNvPr id="33" name="Text 25"/>
          <p:cNvSpPr/>
          <p:nvPr/>
        </p:nvSpPr>
        <p:spPr>
          <a:xfrm>
            <a:off x="822960" y="5486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0B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discount is offered — protecting margin on healthy carts.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6172200" y="2880360"/>
            <a:ext cx="5486400" cy="3063240"/>
          </a:xfrm>
          <a:prstGeom prst="roundRect">
            <a:avLst>
              <a:gd name="adj" fmla="val 4179"/>
            </a:avLst>
          </a:prstGeom>
          <a:solidFill>
            <a:srgbClr val="FDEEEF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46520" y="313639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6" name="Image 6" descr="/home/claude/icons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3262122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866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086600" y="3429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Agent finds the likely cause, then recommends an action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446520" y="3931920"/>
            <a:ext cx="2514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0C7C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565392" y="406450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7" descr="/home/claude/icons/c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1803" y="4150919"/>
            <a:ext cx="211226" cy="21122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39319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UPI Retry</a:t>
            </a:r>
            <a:endParaRPr lang="en-US" sz="1030" dirty="0"/>
          </a:p>
        </p:txBody>
      </p:sp>
      <p:sp>
        <p:nvSpPr>
          <p:cNvPr id="43" name="Shape 33"/>
          <p:cNvSpPr/>
          <p:nvPr/>
        </p:nvSpPr>
        <p:spPr>
          <a:xfrm>
            <a:off x="9107424" y="3931920"/>
            <a:ext cx="2514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0C7CA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226296" y="40645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5" name="Image 8" descr="/home/claude/icons/tru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2707" y="4150919"/>
            <a:ext cx="211226" cy="21122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701784" y="39319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Reduced Shipping</a:t>
            </a:r>
            <a:endParaRPr lang="en-US" sz="1030" dirty="0"/>
          </a:p>
        </p:txBody>
      </p:sp>
      <p:sp>
        <p:nvSpPr>
          <p:cNvPr id="47" name="Shape 36"/>
          <p:cNvSpPr/>
          <p:nvPr/>
        </p:nvSpPr>
        <p:spPr>
          <a:xfrm>
            <a:off x="6446520" y="4754880"/>
            <a:ext cx="2514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0C7CA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565392" y="4887468"/>
            <a:ext cx="384048" cy="384048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49" name="Image 9" descr="/home/claude/icons/tag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1803" y="4973879"/>
            <a:ext cx="211226" cy="211226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040880" y="47548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Discount</a:t>
            </a:r>
            <a:endParaRPr lang="en-US" sz="1030" dirty="0"/>
          </a:p>
        </p:txBody>
      </p:sp>
      <p:sp>
        <p:nvSpPr>
          <p:cNvPr id="51" name="Shape 39"/>
          <p:cNvSpPr/>
          <p:nvPr/>
        </p:nvSpPr>
        <p:spPr>
          <a:xfrm>
            <a:off x="9107424" y="4754880"/>
            <a:ext cx="25146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F0C7CA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9226296" y="4887468"/>
            <a:ext cx="384048" cy="384048"/>
          </a:xfrm>
          <a:prstGeom prst="ellipse">
            <a:avLst/>
          </a:prstGeom>
          <a:solidFill>
            <a:srgbClr val="9B59B6"/>
          </a:solidFill>
          <a:ln/>
        </p:spPr>
      </p:sp>
      <p:pic>
        <p:nvPicPr>
          <p:cNvPr id="53" name="Image 10" descr="/home/claude/icons/comm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2707" y="4973879"/>
            <a:ext cx="211226" cy="211226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9701784" y="47548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Assist</a:t>
            </a:r>
            <a:endParaRPr lang="en-US" sz="1030" dirty="0"/>
          </a:p>
        </p:txBody>
      </p:sp>
      <p:sp>
        <p:nvSpPr>
          <p:cNvPr id="55" name="Text 42"/>
          <p:cNvSpPr/>
          <p:nvPr/>
        </p:nvSpPr>
        <p:spPr>
          <a:xfrm>
            <a:off x="6446520" y="55961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9B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is checked against margin guardrails before it is sent.</a:t>
            </a:r>
            <a:endParaRPr lang="en-US" sz="980" dirty="0"/>
          </a:p>
        </p:txBody>
      </p:sp>
      <p:sp>
        <p:nvSpPr>
          <p:cNvPr id="56" name="Text 4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</a:t>
            </a:r>
            <a:endParaRPr lang="en-US" sz="900" dirty="0"/>
          </a:p>
        </p:txBody>
      </p:sp>
      <p:sp>
        <p:nvSpPr>
          <p:cNvPr id="57" name="Text 44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Trust, Transparency &amp;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8CA0C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198379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Cart Simulator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916936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real-time carts and watch the AI predict and act instantly.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9976" y="1600200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8CA0C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567" y="198379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5603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6008" y="2916936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abandonment trends, recovery rates and agent performance.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11312" y="1600200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8CA0C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1856232"/>
            <a:ext cx="566928" cy="566928"/>
          </a:xfrm>
          <a:prstGeom prst="ellipse">
            <a:avLst/>
          </a:prstGeom>
          <a:solidFill>
            <a:srgbClr val="FF7A33"/>
          </a:solidFill>
          <a:ln/>
        </p:spPr>
      </p:sp>
      <p:pic>
        <p:nvPicPr>
          <p:cNvPr id="16" name="Image 2" descr="/home/claude/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903" y="19837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56032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Validation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7344" y="2916936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business impact of every recovery strategy before scaling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05072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8CA0C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61104"/>
            <a:ext cx="566928" cy="566928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1" y="4388663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651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Guardrails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321808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cap discounts so recovery never erodes profitability.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79976" y="4005072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8CA0C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261104"/>
            <a:ext cx="566928" cy="566928"/>
          </a:xfrm>
          <a:prstGeom prst="ellipse">
            <a:avLst/>
          </a:prstGeom>
          <a:solidFill>
            <a:srgbClr val="9B59B6"/>
          </a:solidFill>
          <a:ln/>
        </p:spPr>
      </p:sp>
      <p:pic>
        <p:nvPicPr>
          <p:cNvPr id="26" name="Image 4" descr="/home/claude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567" y="4388663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36008" y="49651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36008" y="5321808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and action comes with a transparent, human-readable reason.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11312" y="4005072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8CA0C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4261104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5" descr="/home/claude/icon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903" y="4388663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7344" y="4965192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Log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67344" y="5321808"/>
            <a:ext cx="30998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prediction, decision and action is logged for full traceability.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Revenue Without Sacrificing Margin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251960"/>
          </a:xfrm>
          <a:prstGeom prst="roundRect">
            <a:avLst>
              <a:gd name="adj" fmla="val 3011"/>
            </a:avLst>
          </a:prstGeom>
          <a:solidFill>
            <a:srgbClr val="F1F3F8"/>
          </a:solidFill>
          <a:ln w="12700">
            <a:solidFill>
              <a:srgbClr val="DCE2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CART RESCUE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78024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5000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is noticed only after the customer is gone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31927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9125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generic discount sent to every customer, regardless of cause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3250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why a cart was actually abandoned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5001768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87375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costs eat into margin with no guardrails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600200"/>
            <a:ext cx="5257800" cy="4251960"/>
          </a:xfrm>
          <a:prstGeom prst="roundRect">
            <a:avLst>
              <a:gd name="adj" fmla="val 3011"/>
            </a:avLst>
          </a:prstGeom>
          <a:solidFill>
            <a:srgbClr val="18264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8745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CART RESCUE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395728"/>
            <a:ext cx="292608" cy="292608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17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2" y="2454250"/>
            <a:ext cx="175565" cy="17556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86600" y="233172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risk is predicted in real time, before the customer leaves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75120" y="3236976"/>
            <a:ext cx="292608" cy="292608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2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2" y="3295498"/>
            <a:ext cx="175565" cy="1755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317296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action is matched to the specific, diagnosed cause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75120" y="4078224"/>
            <a:ext cx="292608" cy="292608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2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2" y="4136746"/>
            <a:ext cx="175565" cy="17556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86600" y="401421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shows the reasoning behind every decision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675120" y="4919472"/>
            <a:ext cx="292608" cy="292608"/>
          </a:xfrm>
          <a:prstGeom prst="ellipse">
            <a:avLst/>
          </a:prstGeom>
          <a:solidFill>
            <a:srgbClr val="02A96B"/>
          </a:solidFill>
          <a:ln/>
        </p:spPr>
      </p:sp>
      <p:pic>
        <p:nvPicPr>
          <p:cNvPr id="2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2" y="4977994"/>
            <a:ext cx="175565" cy="17556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4855464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guardrails and A/B validation protect profitability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6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Under the Hood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0868" y="1965960"/>
            <a:ext cx="2606040" cy="1920240"/>
          </a:xfrm>
          <a:prstGeom prst="roundRect">
            <a:avLst>
              <a:gd name="adj" fmla="val 6190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0424" y="21945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982" y="23221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8028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8028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Cooperating agents for prediction, diagnosis &amp; recommendation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375508" y="1965960"/>
            <a:ext cx="2606040" cy="1920240"/>
          </a:xfrm>
          <a:prstGeom prst="roundRect">
            <a:avLst>
              <a:gd name="adj" fmla="val 6190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5064" y="21945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22" y="232211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2668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12668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behavioral, transactional &amp; delivery signals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210148" y="1965960"/>
            <a:ext cx="2606040" cy="1920240"/>
          </a:xfrm>
          <a:prstGeom prst="roundRect">
            <a:avLst>
              <a:gd name="adj" fmla="val 6190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29704" y="21945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icons/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62" y="232211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7308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Simulator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7308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and cart simulator for demoing the pipeline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9044788" y="1965960"/>
            <a:ext cx="2606040" cy="1920240"/>
          </a:xfrm>
          <a:prstGeom prst="roundRect">
            <a:avLst>
              <a:gd name="adj" fmla="val 6190"/>
            </a:avLst>
          </a:prstGeom>
          <a:solidFill>
            <a:srgbClr val="1F3363"/>
          </a:solidFill>
          <a:ln w="9525">
            <a:solidFill>
              <a:srgbClr val="35477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64344" y="21945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902" y="2322119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1948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Guardrail Engine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181948" y="32461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enforcing margin-safe, explainable decisions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1463040" y="4434840"/>
            <a:ext cx="9235440" cy="0"/>
          </a:xfrm>
          <a:prstGeom prst="line">
            <a:avLst/>
          </a:prstGeom>
          <a:noFill/>
          <a:ln w="12700">
            <a:solidFill>
              <a:srgbClr val="35477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0" y="47091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1280160" y="544068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 — turning abandoned carts into recovered revenue.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RESCUE AI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2026-08-08T04:36:08Z</dcterms:created>
  <dcterms:modified xsi:type="dcterms:W3CDTF">2026-08-08T04:36:08Z</dcterms:modified>
</cp:coreProperties>
</file>